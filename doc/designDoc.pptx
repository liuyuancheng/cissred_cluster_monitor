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10" d="100"/>
          <a:sy n="110" d="100"/>
        </p:scale>
        <p:origin x="22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5832CD-9FA8-9E50-87E5-23A21F3B20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B35914-C147-6BA1-DB09-12DBA78081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0A36BA-5E9C-6CB3-E22D-6EBFF22A4B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6270A-00CC-4CDA-8518-C9E1E577C90F}" type="datetimeFigureOut">
              <a:rPr lang="en-SG" smtClean="0"/>
              <a:t>3/2/2026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00047C-2228-3140-3AE6-6537166FB7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0A46DA-3538-35F4-467F-C7FE21B714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ED2D59-B7C7-4A00-A1FC-86564FD2872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1026637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A8CC3D-099B-E6F2-F068-0F6DC055C6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1305AD-6DE7-4AE2-61D6-A823E227A3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6F63F2-56E2-6D91-66E4-B2B9D1B9D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6270A-00CC-4CDA-8518-C9E1E577C90F}" type="datetimeFigureOut">
              <a:rPr lang="en-SG" smtClean="0"/>
              <a:t>3/2/2026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8EFD14-1481-0C8A-59B9-8159AA043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C6FAD4-3B28-7C58-0C1D-4AB4BC7CF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ED2D59-B7C7-4A00-A1FC-86564FD2872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1669094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722FBF-DC8E-FB73-20F9-DE0F994A97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31ED05-E1DA-28FC-6104-5810E208D7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3F67D1-F7C5-ACA6-7C2C-976C270892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6270A-00CC-4CDA-8518-C9E1E577C90F}" type="datetimeFigureOut">
              <a:rPr lang="en-SG" smtClean="0"/>
              <a:t>3/2/2026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B9D263-E5EA-B808-9A98-0CD995BDE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5DAAAC-A66C-2D7F-4C82-6C2A3A6BF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ED2D59-B7C7-4A00-A1FC-86564FD2872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0430000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28CF80-2122-687D-1E87-EDC2032F94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B5CDD4-A1D2-1455-2FCA-EFEB1E9ADA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1CC4ED-EAB9-68D4-59E5-8DDAA6F137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3111E8-AC8C-9DFD-2150-96EF18A09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6270A-00CC-4CDA-8518-C9E1E577C90F}" type="datetimeFigureOut">
              <a:rPr lang="en-SG" smtClean="0"/>
              <a:t>3/2/2026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107CD9-878E-C911-C5FE-1FDFBEC78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79B017-EDB1-0652-E315-67F4E3296A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ED2D59-B7C7-4A00-A1FC-86564FD2872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99382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DE6334-6B1B-75DF-85D4-8866D12D9E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3137E9-E69B-7388-53E0-3A0F193CFF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61F347-BC3D-069B-F722-E79D2DAF75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8F7274-65EF-F419-B5E8-40B0321202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ECC9B1A-58D8-AFFE-C533-5D931E15A3D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A4F393-2492-AD6D-0CE5-9F7D95012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6270A-00CC-4CDA-8518-C9E1E577C90F}" type="datetimeFigureOut">
              <a:rPr lang="en-SG" smtClean="0"/>
              <a:t>3/2/2026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4564695-CEBE-EABB-FFCD-8F783B209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3B4902-56B1-846C-1AFC-DEFD65EBB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ED2D59-B7C7-4A00-A1FC-86564FD2872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590980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10B066-9911-AAF5-E0C1-7DFB2B00E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E7F23B2-9C30-FF21-0FA8-B83FEED38D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6270A-00CC-4CDA-8518-C9E1E577C90F}" type="datetimeFigureOut">
              <a:rPr lang="en-SG" smtClean="0"/>
              <a:t>3/2/2026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573078-63AF-E8DE-1677-01DC7DF165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79DDB6-EA11-FF62-0215-AE807500A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ED2D59-B7C7-4A00-A1FC-86564FD2872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412197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FB1E3B-3C28-FC9D-CED3-CAA8C44BD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6270A-00CC-4CDA-8518-C9E1E577C90F}" type="datetimeFigureOut">
              <a:rPr lang="en-SG" smtClean="0"/>
              <a:t>3/2/2026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76702B8-DCB1-1C44-E0AF-39153A2D4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AFE6CD-D922-DB48-3DD5-0C57D9D56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ED2D59-B7C7-4A00-A1FC-86564FD2872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6563505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A51E13-25F8-77F1-9425-C85982C51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644628-52E7-5251-FFD3-8840DD853A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3C0DA4-648C-A9FE-91DA-12095701B1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582017-6EBC-10A6-6C3F-F8967DAA22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6270A-00CC-4CDA-8518-C9E1E577C90F}" type="datetimeFigureOut">
              <a:rPr lang="en-SG" smtClean="0"/>
              <a:t>3/2/2026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C3AFA2-5019-6E3E-1F9F-CC7BF0325E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9FBECE-6A16-EF18-743B-418C16D5D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ED2D59-B7C7-4A00-A1FC-86564FD2872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69995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14A04-74C5-D51B-2666-506012A33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DF12CB3-89DC-B3D1-9A56-DFB36F8EE4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ED85E8-67C2-071B-62B6-55F79724B8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CD2148-EC34-8F5A-D865-E733006DBD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6270A-00CC-4CDA-8518-C9E1E577C90F}" type="datetimeFigureOut">
              <a:rPr lang="en-SG" smtClean="0"/>
              <a:t>3/2/2026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1018EE-87C8-A331-F0E0-57386DABC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FB3CED-A3A0-9477-62EC-5BA69C91A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ED2D59-B7C7-4A00-A1FC-86564FD2872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285210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6D4913-E030-3825-5994-97FB5ABE3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83C161-9289-DE8C-E646-F514FA8114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1E89A-259D-A629-4C1A-7991BE361A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6270A-00CC-4CDA-8518-C9E1E577C90F}" type="datetimeFigureOut">
              <a:rPr lang="en-SG" smtClean="0"/>
              <a:t>3/2/2026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18C02C-6BAE-DCBD-5087-67FEAC90B8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DD0AC4-7C2C-8590-3F01-C695FBC2A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ED2D59-B7C7-4A00-A1FC-86564FD2872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8292359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C8D1C46-9360-3A8A-3EB0-FC023764BB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296539-3228-311A-E382-F86B8DCEA3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1E319B-8592-65F3-67E5-AB83044A7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6270A-00CC-4CDA-8518-C9E1E577C90F}" type="datetimeFigureOut">
              <a:rPr lang="en-SG" smtClean="0"/>
              <a:t>3/2/2026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CB1B26-1608-1B77-ED91-F77555D40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214FC1-E8DE-E07B-0F36-D1FEC071D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ED2D59-B7C7-4A00-A1FC-86564FD2872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232946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884C6DC-ABA2-B466-6074-7AFD7B6AD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E0D8C8-D12D-163B-9474-992BFBBB60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82F7E3-DF03-4902-8B98-C2C6A03D08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76270A-00CC-4CDA-8518-C9E1E577C90F}" type="datetimeFigureOut">
              <a:rPr lang="en-SG" smtClean="0"/>
              <a:t>3/2/2026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9026E-7966-26CE-4DA1-7CF74EC45E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EF9F6D-BF4C-D84E-6C38-4410593CF0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ED2D59-B7C7-4A00-A1FC-86564FD2872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072181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jpe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72FF4B6-F634-CB3A-9693-CB040E6B43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476" y="2771548"/>
            <a:ext cx="680540" cy="481514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6C63174-DDB4-3801-C859-8691A422DD9B}"/>
              </a:ext>
            </a:extLst>
          </p:cNvPr>
          <p:cNvSpPr/>
          <p:nvPr/>
        </p:nvSpPr>
        <p:spPr>
          <a:xfrm>
            <a:off x="3011564" y="930239"/>
            <a:ext cx="2034627" cy="1449897"/>
          </a:xfrm>
          <a:prstGeom prst="rect">
            <a:avLst/>
          </a:prstGeom>
          <a:ln w="19050">
            <a:solidFill>
              <a:srgbClr val="0070C0"/>
            </a:solidFill>
            <a:prstDash val="solid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A8733A-E158-0FB2-C800-118C20A39314}"/>
              </a:ext>
            </a:extLst>
          </p:cNvPr>
          <p:cNvSpPr txBox="1"/>
          <p:nvPr/>
        </p:nvSpPr>
        <p:spPr>
          <a:xfrm>
            <a:off x="3398898" y="632227"/>
            <a:ext cx="124471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</a:rPr>
              <a:t>Physical server 1</a:t>
            </a:r>
            <a:endParaRPr lang="en-SG" sz="1200" b="1" dirty="0">
              <a:solidFill>
                <a:srgbClr val="00206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DA0EBF9-963A-5E43-9A28-19E0261B0460}"/>
              </a:ext>
            </a:extLst>
          </p:cNvPr>
          <p:cNvSpPr/>
          <p:nvPr/>
        </p:nvSpPr>
        <p:spPr>
          <a:xfrm>
            <a:off x="3251042" y="1151541"/>
            <a:ext cx="557430" cy="527296"/>
          </a:xfrm>
          <a:prstGeom prst="rect">
            <a:avLst/>
          </a:prstGeom>
          <a:ln>
            <a:solidFill>
              <a:srgbClr val="0070C0"/>
            </a:solidFill>
            <a:prstDash val="sys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73D0CA6-915F-3023-68E6-67C3D7DC9E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8788" y="1148581"/>
            <a:ext cx="320219" cy="21979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F97F629-5DA9-E08D-3C3A-0075BE46F9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2110" y="1337678"/>
            <a:ext cx="245159" cy="245159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DE8D7A3-F6CC-86DF-2810-0AE5432F54F8}"/>
              </a:ext>
            </a:extLst>
          </p:cNvPr>
          <p:cNvCxnSpPr>
            <a:stCxn id="4" idx="2"/>
          </p:cNvCxnSpPr>
          <p:nvPr/>
        </p:nvCxnSpPr>
        <p:spPr>
          <a:xfrm>
            <a:off x="1571746" y="3253062"/>
            <a:ext cx="0" cy="468034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DE7CC07-174A-A7CC-4A53-FE2D6918C9C8}"/>
              </a:ext>
            </a:extLst>
          </p:cNvPr>
          <p:cNvSpPr txBox="1"/>
          <p:nvPr/>
        </p:nvSpPr>
        <p:spPr>
          <a:xfrm>
            <a:off x="3791913" y="1380753"/>
            <a:ext cx="3621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…</a:t>
            </a:r>
            <a:endParaRPr lang="en-SG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9E50F11-773C-108F-2AC7-BC3E2B5A0EDB}"/>
              </a:ext>
            </a:extLst>
          </p:cNvPr>
          <p:cNvSpPr/>
          <p:nvPr/>
        </p:nvSpPr>
        <p:spPr>
          <a:xfrm>
            <a:off x="4181412" y="1140781"/>
            <a:ext cx="543782" cy="538056"/>
          </a:xfrm>
          <a:prstGeom prst="rect">
            <a:avLst/>
          </a:prstGeom>
          <a:ln>
            <a:solidFill>
              <a:srgbClr val="0070C0"/>
            </a:solidFill>
            <a:prstDash val="sys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CDEA906-25C5-7F45-A567-D2CA78E433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9030" y="1169768"/>
            <a:ext cx="320219" cy="21979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845517B-F4EB-0BA6-6A5D-494E496021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7331" y="1354646"/>
            <a:ext cx="245159" cy="245159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56C52C8-1646-636B-8774-EC5BFA48FD63}"/>
              </a:ext>
            </a:extLst>
          </p:cNvPr>
          <p:cNvSpPr txBox="1"/>
          <p:nvPr/>
        </p:nvSpPr>
        <p:spPr>
          <a:xfrm>
            <a:off x="3171019" y="1637090"/>
            <a:ext cx="76404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</a:rPr>
              <a:t>TX-VM1</a:t>
            </a:r>
            <a:endParaRPr lang="en-SG" sz="1100" dirty="0">
              <a:solidFill>
                <a:srgbClr val="00206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FBD74CB-2F0E-8227-6E9D-F529491DE30F}"/>
              </a:ext>
            </a:extLst>
          </p:cNvPr>
          <p:cNvSpPr txBox="1"/>
          <p:nvPr/>
        </p:nvSpPr>
        <p:spPr>
          <a:xfrm>
            <a:off x="4104969" y="1646744"/>
            <a:ext cx="64472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</a:rPr>
              <a:t>TX-VM4</a:t>
            </a:r>
            <a:endParaRPr lang="en-SG" sz="1100" dirty="0">
              <a:solidFill>
                <a:srgbClr val="002060"/>
              </a:solidFill>
            </a:endParaRP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24473636-F5FE-8138-83C1-075BFCE928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6224" y="3692304"/>
            <a:ext cx="698583" cy="379109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83" name="Cloud 82">
            <a:extLst>
              <a:ext uri="{FF2B5EF4-FFF2-40B4-BE49-F238E27FC236}">
                <a16:creationId xmlns:a16="http://schemas.microsoft.com/office/drawing/2014/main" id="{D0AC0E69-6995-B54A-6FCF-66E52C5A991A}"/>
              </a:ext>
            </a:extLst>
          </p:cNvPr>
          <p:cNvSpPr/>
          <p:nvPr/>
        </p:nvSpPr>
        <p:spPr>
          <a:xfrm>
            <a:off x="922062" y="1766291"/>
            <a:ext cx="1299369" cy="632169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Internet</a:t>
            </a:r>
            <a:r>
              <a:rPr lang="en-US" dirty="0"/>
              <a:t> </a:t>
            </a:r>
            <a:endParaRPr lang="en-SG" dirty="0"/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EF63F861-C03C-19BB-D4E3-AE4D04458B0C}"/>
              </a:ext>
            </a:extLst>
          </p:cNvPr>
          <p:cNvCxnSpPr>
            <a:cxnSpLocks/>
          </p:cNvCxnSpPr>
          <p:nvPr/>
        </p:nvCxnSpPr>
        <p:spPr>
          <a:xfrm>
            <a:off x="1571746" y="2380136"/>
            <a:ext cx="0" cy="374772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F449464F-39A6-0932-E200-2BD00C309AB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87226" y="949818"/>
            <a:ext cx="396581" cy="439689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0031EF6B-5758-8F43-C382-B1064C82CD77}"/>
              </a:ext>
            </a:extLst>
          </p:cNvPr>
          <p:cNvSpPr txBox="1"/>
          <p:nvPr/>
        </p:nvSpPr>
        <p:spPr>
          <a:xfrm>
            <a:off x="1016828" y="625450"/>
            <a:ext cx="112548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 dirty="0">
                <a:solidFill>
                  <a:srgbClr val="C00000"/>
                </a:solidFill>
              </a:rPr>
              <a:t>CTF Participants 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1767E8F8-3BE5-29B7-0E33-54A2DF56C6FF}"/>
              </a:ext>
            </a:extLst>
          </p:cNvPr>
          <p:cNvCxnSpPr>
            <a:stCxn id="12" idx="2"/>
            <a:endCxn id="83" idx="3"/>
          </p:cNvCxnSpPr>
          <p:nvPr/>
        </p:nvCxnSpPr>
        <p:spPr>
          <a:xfrm flipH="1">
            <a:off x="1571747" y="1389507"/>
            <a:ext cx="0" cy="41292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C2B67718-3186-AE88-C377-51838D86C060}"/>
              </a:ext>
            </a:extLst>
          </p:cNvPr>
          <p:cNvSpPr txBox="1"/>
          <p:nvPr/>
        </p:nvSpPr>
        <p:spPr>
          <a:xfrm>
            <a:off x="1556931" y="2328692"/>
            <a:ext cx="946671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 dirty="0"/>
              <a:t>Firewall and Gateway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66358F5-12DB-4FFE-260D-A2F5DFA0D040}"/>
              </a:ext>
            </a:extLst>
          </p:cNvPr>
          <p:cNvSpPr txBox="1"/>
          <p:nvPr/>
        </p:nvSpPr>
        <p:spPr>
          <a:xfrm>
            <a:off x="1585291" y="4105657"/>
            <a:ext cx="96422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 dirty="0"/>
              <a:t>Forward Router</a:t>
            </a:r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20558793-E9BE-E35E-F1B0-7D12FE06B84A}"/>
              </a:ext>
            </a:extLst>
          </p:cNvPr>
          <p:cNvCxnSpPr>
            <a:cxnSpLocks/>
            <a:stCxn id="36" idx="3"/>
            <a:endCxn id="5" idx="1"/>
          </p:cNvCxnSpPr>
          <p:nvPr/>
        </p:nvCxnSpPr>
        <p:spPr>
          <a:xfrm flipV="1">
            <a:off x="1934807" y="1655188"/>
            <a:ext cx="1076757" cy="2226671"/>
          </a:xfrm>
          <a:prstGeom prst="bentConnector3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C1BA52E5-FEA7-F820-7628-D50C220D774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12677" y="1579680"/>
            <a:ext cx="255256" cy="261611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00516618-1051-F93F-81E1-C52A48F9B88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38791" y="1574581"/>
            <a:ext cx="255256" cy="261611"/>
          </a:xfrm>
          <a:prstGeom prst="rect">
            <a:avLst/>
          </a:prstGeom>
          <a:ln>
            <a:solidFill>
              <a:schemeClr val="accent2">
                <a:lumMod val="75000"/>
              </a:schemeClr>
            </a:solidFill>
          </a:ln>
        </p:spPr>
      </p:pic>
      <p:pic>
        <p:nvPicPr>
          <p:cNvPr id="72" name="Graphic 71" descr="Web design with solid fill">
            <a:extLst>
              <a:ext uri="{FF2B5EF4-FFF2-40B4-BE49-F238E27FC236}">
                <a16:creationId xmlns:a16="http://schemas.microsoft.com/office/drawing/2014/main" id="{A478BB4F-F49A-31CB-729D-65609749183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157233" y="1896015"/>
            <a:ext cx="486375" cy="48637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4E04DC4-E5BF-0256-69AC-B23E3EC5762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028467" y="698684"/>
            <a:ext cx="396581" cy="290131"/>
          </a:xfrm>
          <a:prstGeom prst="rect">
            <a:avLst/>
          </a:prstGeom>
          <a:ln w="3175">
            <a:solidFill>
              <a:schemeClr val="tx1"/>
            </a:solidFill>
          </a:ln>
        </p:spPr>
      </p:pic>
      <p:sp>
        <p:nvSpPr>
          <p:cNvPr id="75" name="TextBox 74">
            <a:extLst>
              <a:ext uri="{FF2B5EF4-FFF2-40B4-BE49-F238E27FC236}">
                <a16:creationId xmlns:a16="http://schemas.microsoft.com/office/drawing/2014/main" id="{BEAB7115-BEFC-BA79-D618-D2F04AA685E6}"/>
              </a:ext>
            </a:extLst>
          </p:cNvPr>
          <p:cNvSpPr txBox="1"/>
          <p:nvPr/>
        </p:nvSpPr>
        <p:spPr>
          <a:xfrm>
            <a:off x="3167933" y="937011"/>
            <a:ext cx="175686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 dirty="0">
                <a:solidFill>
                  <a:schemeClr val="accent5">
                    <a:lumMod val="50000"/>
                  </a:schemeClr>
                </a:solidFill>
              </a:rPr>
              <a:t>CTF Challenge Host VMs</a:t>
            </a:r>
          </a:p>
        </p:txBody>
      </p: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3BFF4E19-DA72-1762-9AFD-96F1E53D13C8}"/>
              </a:ext>
            </a:extLst>
          </p:cNvPr>
          <p:cNvCxnSpPr>
            <a:cxnSpLocks/>
            <a:stCxn id="72" idx="3"/>
            <a:endCxn id="67" idx="1"/>
          </p:cNvCxnSpPr>
          <p:nvPr/>
        </p:nvCxnSpPr>
        <p:spPr>
          <a:xfrm flipV="1">
            <a:off x="4643608" y="1705387"/>
            <a:ext cx="295183" cy="433816"/>
          </a:xfrm>
          <a:prstGeom prst="bentConnector3">
            <a:avLst>
              <a:gd name="adj1" fmla="val 50000"/>
            </a:avLst>
          </a:prstGeom>
          <a:ln w="1905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03A4B109-01F6-6BBF-C82C-6BA1A8FF4F5F}"/>
              </a:ext>
            </a:extLst>
          </p:cNvPr>
          <p:cNvCxnSpPr>
            <a:cxnSpLocks/>
          </p:cNvCxnSpPr>
          <p:nvPr/>
        </p:nvCxnSpPr>
        <p:spPr>
          <a:xfrm flipV="1">
            <a:off x="4400420" y="1700645"/>
            <a:ext cx="0" cy="273123"/>
          </a:xfrm>
          <a:prstGeom prst="straightConnector1">
            <a:avLst/>
          </a:prstGeom>
          <a:ln w="190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4E0DCE68-F765-55D0-97FE-74190C3B8BD4}"/>
              </a:ext>
            </a:extLst>
          </p:cNvPr>
          <p:cNvCxnSpPr>
            <a:cxnSpLocks/>
            <a:stCxn id="72" idx="1"/>
            <a:endCxn id="10" idx="3"/>
          </p:cNvCxnSpPr>
          <p:nvPr/>
        </p:nvCxnSpPr>
        <p:spPr>
          <a:xfrm rot="10800000">
            <a:off x="3808473" y="1415189"/>
            <a:ext cx="348761" cy="724014"/>
          </a:xfrm>
          <a:prstGeom prst="bentConnector3">
            <a:avLst>
              <a:gd name="adj1" fmla="val 50000"/>
            </a:avLst>
          </a:prstGeom>
          <a:ln w="190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C6494281-2636-5E8D-59CE-83DB59230251}"/>
              </a:ext>
            </a:extLst>
          </p:cNvPr>
          <p:cNvSpPr txBox="1"/>
          <p:nvPr/>
        </p:nvSpPr>
        <p:spPr>
          <a:xfrm>
            <a:off x="2999298" y="1952464"/>
            <a:ext cx="112981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 err="1">
                <a:solidFill>
                  <a:srgbClr val="002060"/>
                </a:solidFill>
              </a:rPr>
              <a:t>Cpu</a:t>
            </a:r>
            <a:r>
              <a:rPr lang="en-US" sz="1100" b="1" dirty="0">
                <a:solidFill>
                  <a:srgbClr val="002060"/>
                </a:solidFill>
              </a:rPr>
              <a:t>%, </a:t>
            </a:r>
          </a:p>
          <a:p>
            <a:r>
              <a:rPr lang="en-US" sz="1100" b="1" dirty="0">
                <a:solidFill>
                  <a:srgbClr val="002060"/>
                </a:solidFill>
              </a:rPr>
              <a:t>Ram%, Ping</a:t>
            </a:r>
            <a:endParaRPr lang="en-SG" sz="1100" b="1" dirty="0">
              <a:solidFill>
                <a:srgbClr val="002060"/>
              </a:solidFill>
            </a:endParaRPr>
          </a:p>
        </p:txBody>
      </p: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D1505576-8578-8C37-11B0-E33DB8F6CF72}"/>
              </a:ext>
            </a:extLst>
          </p:cNvPr>
          <p:cNvCxnSpPr>
            <a:cxnSpLocks/>
          </p:cNvCxnSpPr>
          <p:nvPr/>
        </p:nvCxnSpPr>
        <p:spPr>
          <a:xfrm>
            <a:off x="3808901" y="2256010"/>
            <a:ext cx="345639" cy="0"/>
          </a:xfrm>
          <a:prstGeom prst="straightConnector1">
            <a:avLst/>
          </a:prstGeom>
          <a:ln w="190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AE0E1915-8FB3-93E7-A5E0-C58A74336BF0}"/>
              </a:ext>
            </a:extLst>
          </p:cNvPr>
          <p:cNvSpPr/>
          <p:nvPr/>
        </p:nvSpPr>
        <p:spPr>
          <a:xfrm>
            <a:off x="2999298" y="2683502"/>
            <a:ext cx="2034627" cy="340637"/>
          </a:xfrm>
          <a:prstGeom prst="rect">
            <a:avLst/>
          </a:prstGeom>
          <a:ln w="19050">
            <a:solidFill>
              <a:srgbClr val="0070C0"/>
            </a:solidFill>
            <a:prstDash val="solid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27E9DB2-3EA2-1383-7E45-FA2A157C6DD4}"/>
              </a:ext>
            </a:extLst>
          </p:cNvPr>
          <p:cNvSpPr txBox="1"/>
          <p:nvPr/>
        </p:nvSpPr>
        <p:spPr>
          <a:xfrm>
            <a:off x="3791913" y="2646127"/>
            <a:ext cx="3621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…</a:t>
            </a:r>
            <a:endParaRPr lang="en-SG" dirty="0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A8447ACC-DEAF-3E6C-FC84-4C8E24384646}"/>
              </a:ext>
            </a:extLst>
          </p:cNvPr>
          <p:cNvSpPr/>
          <p:nvPr/>
        </p:nvSpPr>
        <p:spPr>
          <a:xfrm>
            <a:off x="2991090" y="3566813"/>
            <a:ext cx="2034627" cy="1449897"/>
          </a:xfrm>
          <a:prstGeom prst="rect">
            <a:avLst/>
          </a:prstGeom>
          <a:ln w="19050">
            <a:solidFill>
              <a:srgbClr val="0070C0"/>
            </a:solidFill>
            <a:prstDash val="solid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E3F3361-03B6-700E-F7AE-B00C08F23AD4}"/>
              </a:ext>
            </a:extLst>
          </p:cNvPr>
          <p:cNvSpPr txBox="1"/>
          <p:nvPr/>
        </p:nvSpPr>
        <p:spPr>
          <a:xfrm>
            <a:off x="3378423" y="3268801"/>
            <a:ext cx="13237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</a:rPr>
              <a:t>Physical server 14</a:t>
            </a:r>
            <a:endParaRPr lang="en-SG" sz="1200" b="1" dirty="0">
              <a:solidFill>
                <a:srgbClr val="002060"/>
              </a:solidFill>
            </a:endParaRPr>
          </a:p>
        </p:txBody>
      </p:sp>
      <p:pic>
        <p:nvPicPr>
          <p:cNvPr id="106" name="Picture 105">
            <a:extLst>
              <a:ext uri="{FF2B5EF4-FFF2-40B4-BE49-F238E27FC236}">
                <a16:creationId xmlns:a16="http://schemas.microsoft.com/office/drawing/2014/main" id="{4A169A82-E2A1-4653-641E-BF512AFF5B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007993" y="3335258"/>
            <a:ext cx="396581" cy="290131"/>
          </a:xfrm>
          <a:prstGeom prst="rect">
            <a:avLst/>
          </a:prstGeom>
          <a:ln w="3175">
            <a:solidFill>
              <a:schemeClr val="tx1"/>
            </a:solidFill>
          </a:ln>
        </p:spPr>
      </p:pic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F52C3F98-76A3-C115-DC55-A2B1FC5A1D0F}"/>
              </a:ext>
            </a:extLst>
          </p:cNvPr>
          <p:cNvCxnSpPr>
            <a:cxnSpLocks/>
            <a:endCxn id="103" idx="1"/>
          </p:cNvCxnSpPr>
          <p:nvPr/>
        </p:nvCxnSpPr>
        <p:spPr>
          <a:xfrm>
            <a:off x="2482630" y="2853821"/>
            <a:ext cx="51666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39FAD3B5-D4ED-2064-1820-C6F7983834BB}"/>
              </a:ext>
            </a:extLst>
          </p:cNvPr>
          <p:cNvCxnSpPr>
            <a:cxnSpLocks/>
            <a:endCxn id="140" idx="1"/>
          </p:cNvCxnSpPr>
          <p:nvPr/>
        </p:nvCxnSpPr>
        <p:spPr>
          <a:xfrm rot="16200000" flipH="1">
            <a:off x="2251861" y="4091730"/>
            <a:ext cx="816342" cy="371222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6" name="Picture 115">
            <a:extLst>
              <a:ext uri="{FF2B5EF4-FFF2-40B4-BE49-F238E27FC236}">
                <a16:creationId xmlns:a16="http://schemas.microsoft.com/office/drawing/2014/main" id="{7FFE2B16-B76F-2F82-15CC-0FFBF910FDB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100023" y="3904057"/>
            <a:ext cx="556799" cy="462143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pic>
        <p:nvPicPr>
          <p:cNvPr id="117" name="Picture 116">
            <a:extLst>
              <a:ext uri="{FF2B5EF4-FFF2-40B4-BE49-F238E27FC236}">
                <a16:creationId xmlns:a16="http://schemas.microsoft.com/office/drawing/2014/main" id="{EB478429-6EAE-440E-182D-71B197FE543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57269" y="3904057"/>
            <a:ext cx="556799" cy="462143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pic>
        <p:nvPicPr>
          <p:cNvPr id="118" name="Picture 117">
            <a:extLst>
              <a:ext uri="{FF2B5EF4-FFF2-40B4-BE49-F238E27FC236}">
                <a16:creationId xmlns:a16="http://schemas.microsoft.com/office/drawing/2014/main" id="{E8AF1C0A-90F7-6EA9-1DC2-574298DC08A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04897" y="3897711"/>
            <a:ext cx="556799" cy="462143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119" name="TextBox 118">
            <a:extLst>
              <a:ext uri="{FF2B5EF4-FFF2-40B4-BE49-F238E27FC236}">
                <a16:creationId xmlns:a16="http://schemas.microsoft.com/office/drawing/2014/main" id="{5826FA51-42AA-1251-05CE-8F731F14AC93}"/>
              </a:ext>
            </a:extLst>
          </p:cNvPr>
          <p:cNvSpPr txBox="1"/>
          <p:nvPr/>
        </p:nvSpPr>
        <p:spPr>
          <a:xfrm>
            <a:off x="2985554" y="3657475"/>
            <a:ext cx="186126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 dirty="0">
                <a:solidFill>
                  <a:schemeClr val="accent5">
                    <a:lumMod val="50000"/>
                  </a:schemeClr>
                </a:solidFill>
              </a:rPr>
              <a:t>CTF Challenge Host Dockers</a:t>
            </a:r>
          </a:p>
        </p:txBody>
      </p:sp>
      <p:pic>
        <p:nvPicPr>
          <p:cNvPr id="120" name="Graphic 119" descr="Web design with solid fill">
            <a:extLst>
              <a:ext uri="{FF2B5EF4-FFF2-40B4-BE49-F238E27FC236}">
                <a16:creationId xmlns:a16="http://schemas.microsoft.com/office/drawing/2014/main" id="{8CB73D22-ADDA-AB6D-8E2B-D52BCDB044D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738532" y="4503682"/>
            <a:ext cx="486375" cy="486375"/>
          </a:xfrm>
          <a:prstGeom prst="rect">
            <a:avLst/>
          </a:prstGeom>
        </p:spPr>
      </p:pic>
      <p:cxnSp>
        <p:nvCxnSpPr>
          <p:cNvPr id="122" name="Connector: Elbow 121">
            <a:extLst>
              <a:ext uri="{FF2B5EF4-FFF2-40B4-BE49-F238E27FC236}">
                <a16:creationId xmlns:a16="http://schemas.microsoft.com/office/drawing/2014/main" id="{4837A284-6C54-FA98-4D1D-51508C510539}"/>
              </a:ext>
            </a:extLst>
          </p:cNvPr>
          <p:cNvCxnSpPr>
            <a:cxnSpLocks/>
            <a:stCxn id="120" idx="1"/>
            <a:endCxn id="116" idx="2"/>
          </p:cNvCxnSpPr>
          <p:nvPr/>
        </p:nvCxnSpPr>
        <p:spPr>
          <a:xfrm rot="10800000">
            <a:off x="3378424" y="4366200"/>
            <a:ext cx="360109" cy="380670"/>
          </a:xfrm>
          <a:prstGeom prst="bentConnector2">
            <a:avLst/>
          </a:prstGeom>
          <a:ln w="190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639AED70-CB75-AF53-1A4E-E253F6A712CD}"/>
              </a:ext>
            </a:extLst>
          </p:cNvPr>
          <p:cNvCxnSpPr>
            <a:cxnSpLocks/>
          </p:cNvCxnSpPr>
          <p:nvPr/>
        </p:nvCxnSpPr>
        <p:spPr>
          <a:xfrm flipH="1" flipV="1">
            <a:off x="3971248" y="4367120"/>
            <a:ext cx="0" cy="257131"/>
          </a:xfrm>
          <a:prstGeom prst="straightConnector1">
            <a:avLst/>
          </a:prstGeom>
          <a:ln w="190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: Elbow 126">
            <a:extLst>
              <a:ext uri="{FF2B5EF4-FFF2-40B4-BE49-F238E27FC236}">
                <a16:creationId xmlns:a16="http://schemas.microsoft.com/office/drawing/2014/main" id="{8FCB12EC-96D6-5E89-C7A1-45D3116B5E8D}"/>
              </a:ext>
            </a:extLst>
          </p:cNvPr>
          <p:cNvCxnSpPr>
            <a:cxnSpLocks/>
            <a:endCxn id="118" idx="2"/>
          </p:cNvCxnSpPr>
          <p:nvPr/>
        </p:nvCxnSpPr>
        <p:spPr>
          <a:xfrm flipV="1">
            <a:off x="4167122" y="4359854"/>
            <a:ext cx="516175" cy="272222"/>
          </a:xfrm>
          <a:prstGeom prst="bentConnector2">
            <a:avLst/>
          </a:prstGeom>
          <a:ln w="190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2" name="Picture 131">
            <a:extLst>
              <a:ext uri="{FF2B5EF4-FFF2-40B4-BE49-F238E27FC236}">
                <a16:creationId xmlns:a16="http://schemas.microsoft.com/office/drawing/2014/main" id="{FB5DF0D2-DB6D-A8C7-DD6B-32EEE0E5B49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3370" y="4591174"/>
            <a:ext cx="255256" cy="261611"/>
          </a:xfrm>
          <a:prstGeom prst="rect">
            <a:avLst/>
          </a:prstGeom>
          <a:ln>
            <a:solidFill>
              <a:schemeClr val="accent2">
                <a:lumMod val="75000"/>
              </a:schemeClr>
            </a:solidFill>
          </a:ln>
        </p:spPr>
      </p:pic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1017CE58-CA13-7845-63EE-49D71A418607}"/>
              </a:ext>
            </a:extLst>
          </p:cNvPr>
          <p:cNvCxnSpPr>
            <a:cxnSpLocks/>
          </p:cNvCxnSpPr>
          <p:nvPr/>
        </p:nvCxnSpPr>
        <p:spPr>
          <a:xfrm flipV="1">
            <a:off x="4189030" y="4776953"/>
            <a:ext cx="693656" cy="1"/>
          </a:xfrm>
          <a:prstGeom prst="line">
            <a:avLst/>
          </a:prstGeom>
          <a:ln w="1905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5" name="Graphic 134" descr="Web design with solid fill">
            <a:extLst>
              <a:ext uri="{FF2B5EF4-FFF2-40B4-BE49-F238E27FC236}">
                <a16:creationId xmlns:a16="http://schemas.microsoft.com/office/drawing/2014/main" id="{6783C58B-7FB5-2402-3A51-0B2D869D40A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569779" y="5101950"/>
            <a:ext cx="486375" cy="486375"/>
          </a:xfrm>
          <a:prstGeom prst="rect">
            <a:avLst/>
          </a:prstGeom>
        </p:spPr>
      </p:pic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526B59A2-5DD6-BD0D-5B78-65146924CBC2}"/>
              </a:ext>
            </a:extLst>
          </p:cNvPr>
          <p:cNvCxnSpPr>
            <a:cxnSpLocks/>
            <a:stCxn id="135" idx="1"/>
            <a:endCxn id="36" idx="2"/>
          </p:cNvCxnSpPr>
          <p:nvPr/>
        </p:nvCxnSpPr>
        <p:spPr>
          <a:xfrm rot="10800000">
            <a:off x="1585517" y="4071414"/>
            <a:ext cx="2984263" cy="1273725"/>
          </a:xfrm>
          <a:prstGeom prst="bentConnector2">
            <a:avLst/>
          </a:prstGeom>
          <a:ln w="190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0" name="Picture 139">
            <a:extLst>
              <a:ext uri="{FF2B5EF4-FFF2-40B4-BE49-F238E27FC236}">
                <a16:creationId xmlns:a16="http://schemas.microsoft.com/office/drawing/2014/main" id="{BB037CAD-7BAD-5808-D6F4-6D804BA212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45643" y="4554706"/>
            <a:ext cx="255256" cy="261611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142" name="Rectangle 141">
            <a:extLst>
              <a:ext uri="{FF2B5EF4-FFF2-40B4-BE49-F238E27FC236}">
                <a16:creationId xmlns:a16="http://schemas.microsoft.com/office/drawing/2014/main" id="{4B36FBFB-4CE5-BD94-CB02-9EAECD7611D4}"/>
              </a:ext>
            </a:extLst>
          </p:cNvPr>
          <p:cNvSpPr/>
          <p:nvPr/>
        </p:nvSpPr>
        <p:spPr>
          <a:xfrm>
            <a:off x="6256335" y="1504816"/>
            <a:ext cx="1115090" cy="403538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b="1" dirty="0"/>
              <a:t>Communication  Module</a:t>
            </a:r>
            <a:endParaRPr lang="en-SG" sz="1100" b="1" dirty="0"/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4B5290B4-E6C6-3751-3BDD-C2542B9712FC}"/>
              </a:ext>
            </a:extLst>
          </p:cNvPr>
          <p:cNvCxnSpPr>
            <a:stCxn id="67" idx="3"/>
            <a:endCxn id="142" idx="1"/>
          </p:cNvCxnSpPr>
          <p:nvPr/>
        </p:nvCxnSpPr>
        <p:spPr>
          <a:xfrm>
            <a:off x="5194047" y="1705387"/>
            <a:ext cx="1062288" cy="1198"/>
          </a:xfrm>
          <a:prstGeom prst="straightConnector1">
            <a:avLst/>
          </a:prstGeom>
          <a:ln w="190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50581020-EE1C-EDD3-999A-2ABB11B04279}"/>
              </a:ext>
            </a:extLst>
          </p:cNvPr>
          <p:cNvCxnSpPr>
            <a:cxnSpLocks/>
            <a:stCxn id="103" idx="3"/>
          </p:cNvCxnSpPr>
          <p:nvPr/>
        </p:nvCxnSpPr>
        <p:spPr>
          <a:xfrm flipV="1">
            <a:off x="5033925" y="1710485"/>
            <a:ext cx="691266" cy="1143336"/>
          </a:xfrm>
          <a:prstGeom prst="bentConnector2">
            <a:avLst/>
          </a:prstGeom>
          <a:ln w="1905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: Elbow 149">
            <a:extLst>
              <a:ext uri="{FF2B5EF4-FFF2-40B4-BE49-F238E27FC236}">
                <a16:creationId xmlns:a16="http://schemas.microsoft.com/office/drawing/2014/main" id="{B15B07B0-C4A3-C23B-303D-D79FD1436ACA}"/>
              </a:ext>
            </a:extLst>
          </p:cNvPr>
          <p:cNvCxnSpPr>
            <a:cxnSpLocks/>
            <a:stCxn id="132" idx="3"/>
          </p:cNvCxnSpPr>
          <p:nvPr/>
        </p:nvCxnSpPr>
        <p:spPr>
          <a:xfrm flipV="1">
            <a:off x="5138626" y="2853820"/>
            <a:ext cx="586565" cy="1868160"/>
          </a:xfrm>
          <a:prstGeom prst="bentConnector2">
            <a:avLst/>
          </a:prstGeom>
          <a:ln w="1905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96E82FF6-C28F-30D9-E613-40ABB1027E7D}"/>
              </a:ext>
            </a:extLst>
          </p:cNvPr>
          <p:cNvCxnSpPr>
            <a:cxnSpLocks/>
          </p:cNvCxnSpPr>
          <p:nvPr/>
        </p:nvCxnSpPr>
        <p:spPr>
          <a:xfrm flipV="1">
            <a:off x="5010834" y="4746869"/>
            <a:ext cx="694467" cy="608370"/>
          </a:xfrm>
          <a:prstGeom prst="bentConnector3">
            <a:avLst>
              <a:gd name="adj1" fmla="val 102668"/>
            </a:avLst>
          </a:prstGeom>
          <a:ln w="1905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05C09586-893F-7431-3A85-923391D8477F}"/>
              </a:ext>
            </a:extLst>
          </p:cNvPr>
          <p:cNvSpPr txBox="1"/>
          <p:nvPr/>
        </p:nvSpPr>
        <p:spPr>
          <a:xfrm>
            <a:off x="4551820" y="2135203"/>
            <a:ext cx="11365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accent2">
                    <a:lumMod val="75000"/>
                  </a:schemeClr>
                </a:solidFill>
              </a:rPr>
              <a:t>Monitor Agent</a:t>
            </a:r>
            <a:endParaRPr lang="en-SG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pic>
        <p:nvPicPr>
          <p:cNvPr id="157" name="Graphic 156" descr="Web design with solid fill">
            <a:extLst>
              <a:ext uri="{FF2B5EF4-FFF2-40B4-BE49-F238E27FC236}">
                <a16:creationId xmlns:a16="http://schemas.microsoft.com/office/drawing/2014/main" id="{649E67CF-AEBD-5751-F1BC-33FDAF34E11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453303" y="2597314"/>
            <a:ext cx="486375" cy="486375"/>
          </a:xfrm>
          <a:prstGeom prst="rect">
            <a:avLst/>
          </a:prstGeom>
        </p:spPr>
      </p:pic>
      <p:sp>
        <p:nvSpPr>
          <p:cNvPr id="158" name="TextBox 157">
            <a:extLst>
              <a:ext uri="{FF2B5EF4-FFF2-40B4-BE49-F238E27FC236}">
                <a16:creationId xmlns:a16="http://schemas.microsoft.com/office/drawing/2014/main" id="{CC615D95-9A77-8E7A-4873-807EE718C117}"/>
              </a:ext>
            </a:extLst>
          </p:cNvPr>
          <p:cNvSpPr txBox="1"/>
          <p:nvPr/>
        </p:nvSpPr>
        <p:spPr>
          <a:xfrm>
            <a:off x="2881478" y="2441990"/>
            <a:ext cx="13323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</a:rPr>
              <a:t>Physical server N</a:t>
            </a:r>
            <a:endParaRPr lang="en-SG" sz="1200" b="1" dirty="0">
              <a:solidFill>
                <a:srgbClr val="002060"/>
              </a:solidFill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D5591B19-6DA8-E314-884B-BC82DED6DE7E}"/>
              </a:ext>
            </a:extLst>
          </p:cNvPr>
          <p:cNvSpPr txBox="1"/>
          <p:nvPr/>
        </p:nvSpPr>
        <p:spPr>
          <a:xfrm>
            <a:off x="4393023" y="3019636"/>
            <a:ext cx="11365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accent2">
                    <a:lumMod val="75000"/>
                  </a:schemeClr>
                </a:solidFill>
              </a:rPr>
              <a:t>Monitor Agent</a:t>
            </a:r>
            <a:endParaRPr lang="en-SG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0D7854B1-F4BA-1257-4899-7AB9B512CF2F}"/>
              </a:ext>
            </a:extLst>
          </p:cNvPr>
          <p:cNvSpPr txBox="1"/>
          <p:nvPr/>
        </p:nvSpPr>
        <p:spPr>
          <a:xfrm>
            <a:off x="4089953" y="4787345"/>
            <a:ext cx="11365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accent2">
                    <a:lumMod val="75000"/>
                  </a:schemeClr>
                </a:solidFill>
              </a:rPr>
              <a:t>Monitor Agent</a:t>
            </a:r>
            <a:endParaRPr lang="en-SG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67C5FE35-19B6-EA0B-C393-23787DC06E8E}"/>
              </a:ext>
            </a:extLst>
          </p:cNvPr>
          <p:cNvSpPr txBox="1"/>
          <p:nvPr/>
        </p:nvSpPr>
        <p:spPr>
          <a:xfrm>
            <a:off x="4535858" y="5469342"/>
            <a:ext cx="11365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accent2">
                    <a:lumMod val="75000"/>
                  </a:schemeClr>
                </a:solidFill>
              </a:rPr>
              <a:t>Monitor Agent</a:t>
            </a:r>
            <a:endParaRPr lang="en-SG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8BB2C6AD-AD59-F1C4-677E-2BDB9A13F7D4}"/>
              </a:ext>
            </a:extLst>
          </p:cNvPr>
          <p:cNvSpPr/>
          <p:nvPr/>
        </p:nvSpPr>
        <p:spPr>
          <a:xfrm>
            <a:off x="7747552" y="1492476"/>
            <a:ext cx="946628" cy="403539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b="1" dirty="0"/>
              <a:t>Monitor Hub</a:t>
            </a:r>
            <a:endParaRPr lang="en-SG" sz="1100" b="1" dirty="0"/>
          </a:p>
        </p:txBody>
      </p:sp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7CB79442-D0A0-1457-A954-9E3E5A3D3000}"/>
              </a:ext>
            </a:extLst>
          </p:cNvPr>
          <p:cNvCxnSpPr>
            <a:cxnSpLocks/>
            <a:stCxn id="142" idx="3"/>
            <a:endCxn id="162" idx="1"/>
          </p:cNvCxnSpPr>
          <p:nvPr/>
        </p:nvCxnSpPr>
        <p:spPr>
          <a:xfrm flipV="1">
            <a:off x="7371425" y="1694246"/>
            <a:ext cx="376127" cy="0"/>
          </a:xfrm>
          <a:prstGeom prst="straightConnector1">
            <a:avLst/>
          </a:prstGeom>
          <a:ln w="190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8" name="Picture 167">
            <a:extLst>
              <a:ext uri="{FF2B5EF4-FFF2-40B4-BE49-F238E27FC236}">
                <a16:creationId xmlns:a16="http://schemas.microsoft.com/office/drawing/2014/main" id="{2E85E133-A1CB-75CE-680E-9DC6CC750D1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986040" y="1302656"/>
            <a:ext cx="586565" cy="688175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FB3FFFA5-196F-636B-B356-DF1E67517DFD}"/>
              </a:ext>
            </a:extLst>
          </p:cNvPr>
          <p:cNvCxnSpPr>
            <a:cxnSpLocks/>
            <a:endCxn id="168" idx="1"/>
          </p:cNvCxnSpPr>
          <p:nvPr/>
        </p:nvCxnSpPr>
        <p:spPr>
          <a:xfrm flipV="1">
            <a:off x="8694180" y="1646744"/>
            <a:ext cx="291860" cy="0"/>
          </a:xfrm>
          <a:prstGeom prst="straightConnector1">
            <a:avLst/>
          </a:prstGeom>
          <a:ln w="190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1" name="TextBox 170">
            <a:extLst>
              <a:ext uri="{FF2B5EF4-FFF2-40B4-BE49-F238E27FC236}">
                <a16:creationId xmlns:a16="http://schemas.microsoft.com/office/drawing/2014/main" id="{33030D17-F92A-BBBA-9951-E975638F8D7F}"/>
              </a:ext>
            </a:extLst>
          </p:cNvPr>
          <p:cNvSpPr txBox="1"/>
          <p:nvPr/>
        </p:nvSpPr>
        <p:spPr>
          <a:xfrm>
            <a:off x="8694180" y="1048176"/>
            <a:ext cx="10699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002060"/>
                </a:solidFill>
              </a:rPr>
              <a:t>Raw Database </a:t>
            </a:r>
            <a:endParaRPr lang="en-SG" sz="1100" b="1" dirty="0">
              <a:solidFill>
                <a:srgbClr val="002060"/>
              </a:solidFill>
            </a:endParaRP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81F473ED-212D-8DA9-B569-082ACE849165}"/>
              </a:ext>
            </a:extLst>
          </p:cNvPr>
          <p:cNvSpPr/>
          <p:nvPr/>
        </p:nvSpPr>
        <p:spPr>
          <a:xfrm>
            <a:off x="7559488" y="2227982"/>
            <a:ext cx="1115090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b="1" dirty="0"/>
              <a:t>Data Manager </a:t>
            </a:r>
            <a:endParaRPr lang="en-SG" sz="1100" b="1" dirty="0"/>
          </a:p>
        </p:txBody>
      </p: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C5E5403C-A959-36AE-7328-E4E7FF28DFCE}"/>
              </a:ext>
            </a:extLst>
          </p:cNvPr>
          <p:cNvCxnSpPr>
            <a:cxnSpLocks/>
            <a:stCxn id="168" idx="2"/>
            <a:endCxn id="172" idx="3"/>
          </p:cNvCxnSpPr>
          <p:nvPr/>
        </p:nvCxnSpPr>
        <p:spPr>
          <a:xfrm rot="5400000">
            <a:off x="8766043" y="1899367"/>
            <a:ext cx="421817" cy="604745"/>
          </a:xfrm>
          <a:prstGeom prst="bentConnector2">
            <a:avLst/>
          </a:prstGeom>
          <a:ln w="190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6" name="Picture 175">
            <a:extLst>
              <a:ext uri="{FF2B5EF4-FFF2-40B4-BE49-F238E27FC236}">
                <a16:creationId xmlns:a16="http://schemas.microsoft.com/office/drawing/2014/main" id="{4DA05359-7979-F2AC-56CF-BF781D0C17E6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28490" y="2697843"/>
            <a:ext cx="691266" cy="683069"/>
          </a:xfrm>
          <a:prstGeom prst="rect">
            <a:avLst/>
          </a:prstGeom>
        </p:spPr>
      </p:pic>
      <p:sp>
        <p:nvSpPr>
          <p:cNvPr id="177" name="TextBox 176">
            <a:extLst>
              <a:ext uri="{FF2B5EF4-FFF2-40B4-BE49-F238E27FC236}">
                <a16:creationId xmlns:a16="http://schemas.microsoft.com/office/drawing/2014/main" id="{E0662AD1-AF02-7EEA-0A43-3B96C5725BA3}"/>
              </a:ext>
            </a:extLst>
          </p:cNvPr>
          <p:cNvSpPr txBox="1"/>
          <p:nvPr/>
        </p:nvSpPr>
        <p:spPr>
          <a:xfrm>
            <a:off x="6122281" y="3436008"/>
            <a:ext cx="10622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002060"/>
                </a:solidFill>
              </a:rPr>
              <a:t>Info Database </a:t>
            </a:r>
            <a:endParaRPr lang="en-SG" sz="1100" b="1" dirty="0">
              <a:solidFill>
                <a:srgbClr val="002060"/>
              </a:solidFill>
            </a:endParaRPr>
          </a:p>
        </p:txBody>
      </p:sp>
      <p:cxnSp>
        <p:nvCxnSpPr>
          <p:cNvPr id="178" name="Connector: Elbow 177">
            <a:extLst>
              <a:ext uri="{FF2B5EF4-FFF2-40B4-BE49-F238E27FC236}">
                <a16:creationId xmlns:a16="http://schemas.microsoft.com/office/drawing/2014/main" id="{CA5F31A5-9F8F-4029-C9FB-E2BD7F0C84F1}"/>
              </a:ext>
            </a:extLst>
          </p:cNvPr>
          <p:cNvCxnSpPr>
            <a:cxnSpLocks/>
            <a:stCxn id="172" idx="1"/>
            <a:endCxn id="176" idx="0"/>
          </p:cNvCxnSpPr>
          <p:nvPr/>
        </p:nvCxnSpPr>
        <p:spPr>
          <a:xfrm rot="10800000" flipV="1">
            <a:off x="6574124" y="2412647"/>
            <a:ext cx="985365" cy="285195"/>
          </a:xfrm>
          <a:prstGeom prst="bentConnector2">
            <a:avLst/>
          </a:prstGeom>
          <a:ln w="190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3" name="Picture 4">
            <a:extLst>
              <a:ext uri="{FF2B5EF4-FFF2-40B4-BE49-F238E27FC236}">
                <a16:creationId xmlns:a16="http://schemas.microsoft.com/office/drawing/2014/main" id="{F75B40F0-0B4E-8E65-5766-655FE95DE9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1425" y="2854522"/>
            <a:ext cx="994754" cy="442113"/>
          </a:xfrm>
          <a:prstGeom prst="rect">
            <a:avLst/>
          </a:prstGeom>
          <a:noFill/>
          <a:ln w="19050">
            <a:solidFill>
              <a:schemeClr val="accent2">
                <a:lumMod val="7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4" name="Arrow: Right 183">
            <a:extLst>
              <a:ext uri="{FF2B5EF4-FFF2-40B4-BE49-F238E27FC236}">
                <a16:creationId xmlns:a16="http://schemas.microsoft.com/office/drawing/2014/main" id="{1F5775D4-C5E9-AC77-2413-8AA7F25F103C}"/>
              </a:ext>
            </a:extLst>
          </p:cNvPr>
          <p:cNvSpPr/>
          <p:nvPr/>
        </p:nvSpPr>
        <p:spPr>
          <a:xfrm>
            <a:off x="6971360" y="2958744"/>
            <a:ext cx="309535" cy="161266"/>
          </a:xfrm>
          <a:prstGeom prst="right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A686E79A-D97A-870F-6CF8-2671458F3E3E}"/>
              </a:ext>
            </a:extLst>
          </p:cNvPr>
          <p:cNvSpPr/>
          <p:nvPr/>
        </p:nvSpPr>
        <p:spPr>
          <a:xfrm>
            <a:off x="8694180" y="2882784"/>
            <a:ext cx="780067" cy="421817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b="1" dirty="0"/>
              <a:t>Message Sender</a:t>
            </a:r>
            <a:endParaRPr lang="en-SG" sz="1100" b="1" dirty="0"/>
          </a:p>
        </p:txBody>
      </p: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F85D49E0-D0D8-C14B-6D29-87AD56DFFC6B}"/>
              </a:ext>
            </a:extLst>
          </p:cNvPr>
          <p:cNvCxnSpPr>
            <a:cxnSpLocks/>
          </p:cNvCxnSpPr>
          <p:nvPr/>
        </p:nvCxnSpPr>
        <p:spPr>
          <a:xfrm>
            <a:off x="7659415" y="2580489"/>
            <a:ext cx="0" cy="283513"/>
          </a:xfrm>
          <a:prstGeom prst="straightConnector1">
            <a:avLst/>
          </a:prstGeom>
          <a:ln w="190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8" name="Connector: Elbow 187">
            <a:extLst>
              <a:ext uri="{FF2B5EF4-FFF2-40B4-BE49-F238E27FC236}">
                <a16:creationId xmlns:a16="http://schemas.microsoft.com/office/drawing/2014/main" id="{F75880FD-403F-A3E1-317B-FA66D716F2C9}"/>
              </a:ext>
            </a:extLst>
          </p:cNvPr>
          <p:cNvCxnSpPr>
            <a:cxnSpLocks/>
            <a:stCxn id="172" idx="2"/>
            <a:endCxn id="185" idx="0"/>
          </p:cNvCxnSpPr>
          <p:nvPr/>
        </p:nvCxnSpPr>
        <p:spPr>
          <a:xfrm rot="16200000" flipH="1">
            <a:off x="8457888" y="2256458"/>
            <a:ext cx="285470" cy="967181"/>
          </a:xfrm>
          <a:prstGeom prst="bentConnector3">
            <a:avLst>
              <a:gd name="adj1" fmla="val 50000"/>
            </a:avLst>
          </a:prstGeom>
          <a:ln w="190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3" name="Picture 192">
            <a:extLst>
              <a:ext uri="{FF2B5EF4-FFF2-40B4-BE49-F238E27FC236}">
                <a16:creationId xmlns:a16="http://schemas.microsoft.com/office/drawing/2014/main" id="{7A8B5211-A1E4-D71F-3924-791A5EF80B1B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5684" y="3886368"/>
            <a:ext cx="2446921" cy="1315220"/>
          </a:xfrm>
          <a:prstGeom prst="rect">
            <a:avLst/>
          </a:prstGeom>
        </p:spPr>
      </p:pic>
      <p:pic>
        <p:nvPicPr>
          <p:cNvPr id="194" name="Picture 4">
            <a:extLst>
              <a:ext uri="{FF2B5EF4-FFF2-40B4-BE49-F238E27FC236}">
                <a16:creationId xmlns:a16="http://schemas.microsoft.com/office/drawing/2014/main" id="{F68E5A1E-F7B5-91BA-9055-5BB0833BCC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62266" y="5182642"/>
            <a:ext cx="410339" cy="410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95" name="Straight Arrow Connector 194">
            <a:extLst>
              <a:ext uri="{FF2B5EF4-FFF2-40B4-BE49-F238E27FC236}">
                <a16:creationId xmlns:a16="http://schemas.microsoft.com/office/drawing/2014/main" id="{3D0B8ACB-3546-8DCF-E74B-1E83F7EAC103}"/>
              </a:ext>
            </a:extLst>
          </p:cNvPr>
          <p:cNvCxnSpPr>
            <a:cxnSpLocks/>
          </p:cNvCxnSpPr>
          <p:nvPr/>
        </p:nvCxnSpPr>
        <p:spPr>
          <a:xfrm>
            <a:off x="7659641" y="3296635"/>
            <a:ext cx="0" cy="572535"/>
          </a:xfrm>
          <a:prstGeom prst="straightConnector1">
            <a:avLst/>
          </a:prstGeom>
          <a:ln w="190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7" name="TextBox 196">
            <a:extLst>
              <a:ext uri="{FF2B5EF4-FFF2-40B4-BE49-F238E27FC236}">
                <a16:creationId xmlns:a16="http://schemas.microsoft.com/office/drawing/2014/main" id="{6971FB3C-573E-380B-CF69-6FAA78C892EE}"/>
              </a:ext>
            </a:extLst>
          </p:cNvPr>
          <p:cNvSpPr txBox="1"/>
          <p:nvPr/>
        </p:nvSpPr>
        <p:spPr>
          <a:xfrm>
            <a:off x="6122281" y="5484731"/>
            <a:ext cx="153713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2">
                    <a:lumMod val="75000"/>
                  </a:schemeClr>
                </a:solidFill>
              </a:rPr>
              <a:t>Monitor Dashboards </a:t>
            </a:r>
            <a:endParaRPr lang="en-SG" sz="11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pic>
        <p:nvPicPr>
          <p:cNvPr id="198" name="Picture 197" descr="A screenshot of a text message&#10;&#10;Description automatically generated with medium confidence">
            <a:extLst>
              <a:ext uri="{FF2B5EF4-FFF2-40B4-BE49-F238E27FC236}">
                <a16:creationId xmlns:a16="http://schemas.microsoft.com/office/drawing/2014/main" id="{B929EB22-B24D-7422-C828-1BB3C07C4469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1014" y="3634097"/>
            <a:ext cx="586565" cy="126906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99" name="Picture 198" descr="A screenshot of a computer&#10;&#10;Description automatically generated with medium confidence">
            <a:extLst>
              <a:ext uri="{FF2B5EF4-FFF2-40B4-BE49-F238E27FC236}">
                <a16:creationId xmlns:a16="http://schemas.microsoft.com/office/drawing/2014/main" id="{EE9CD757-D26C-AB3C-7DE1-07DBB0F8DAB3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3832" y="4187997"/>
            <a:ext cx="2319952" cy="1256640"/>
          </a:xfrm>
          <a:prstGeom prst="rect">
            <a:avLst/>
          </a:prstGeom>
          <a:ln w="3175">
            <a:solidFill>
              <a:schemeClr val="tx1"/>
            </a:solidFill>
          </a:ln>
        </p:spPr>
      </p:pic>
      <p:sp>
        <p:nvSpPr>
          <p:cNvPr id="200" name="TextBox 199">
            <a:extLst>
              <a:ext uri="{FF2B5EF4-FFF2-40B4-BE49-F238E27FC236}">
                <a16:creationId xmlns:a16="http://schemas.microsoft.com/office/drawing/2014/main" id="{1C63026E-058A-5168-C4EF-92E7AEBF046A}"/>
              </a:ext>
            </a:extLst>
          </p:cNvPr>
          <p:cNvSpPr txBox="1"/>
          <p:nvPr/>
        </p:nvSpPr>
        <p:spPr>
          <a:xfrm>
            <a:off x="9083120" y="3356274"/>
            <a:ext cx="117407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2">
                    <a:lumMod val="75000"/>
                  </a:schemeClr>
                </a:solidFill>
              </a:rPr>
              <a:t>Telegram Group</a:t>
            </a:r>
            <a:endParaRPr lang="en-SG" sz="11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201" name="Connector: Elbow 200">
            <a:extLst>
              <a:ext uri="{FF2B5EF4-FFF2-40B4-BE49-F238E27FC236}">
                <a16:creationId xmlns:a16="http://schemas.microsoft.com/office/drawing/2014/main" id="{94A93BB9-7E1D-8F76-41E5-3A9980500CF5}"/>
              </a:ext>
            </a:extLst>
          </p:cNvPr>
          <p:cNvCxnSpPr>
            <a:cxnSpLocks/>
            <a:endCxn id="198" idx="1"/>
          </p:cNvCxnSpPr>
          <p:nvPr/>
        </p:nvCxnSpPr>
        <p:spPr>
          <a:xfrm rot="16200000" flipH="1">
            <a:off x="8503549" y="3641162"/>
            <a:ext cx="964027" cy="290904"/>
          </a:xfrm>
          <a:prstGeom prst="bentConnector2">
            <a:avLst/>
          </a:prstGeom>
          <a:ln w="190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Straight Arrow Connector 203">
            <a:extLst>
              <a:ext uri="{FF2B5EF4-FFF2-40B4-BE49-F238E27FC236}">
                <a16:creationId xmlns:a16="http://schemas.microsoft.com/office/drawing/2014/main" id="{8950ECD7-2C2F-5D94-A0E2-A8F7958AFE00}"/>
              </a:ext>
            </a:extLst>
          </p:cNvPr>
          <p:cNvCxnSpPr>
            <a:cxnSpLocks/>
            <a:endCxn id="194" idx="0"/>
          </p:cNvCxnSpPr>
          <p:nvPr/>
        </p:nvCxnSpPr>
        <p:spPr>
          <a:xfrm flipH="1">
            <a:off x="9367436" y="4925844"/>
            <a:ext cx="0" cy="256798"/>
          </a:xfrm>
          <a:prstGeom prst="straightConnector1">
            <a:avLst/>
          </a:prstGeom>
          <a:ln w="190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6" name="Straight Arrow Connector 205">
            <a:extLst>
              <a:ext uri="{FF2B5EF4-FFF2-40B4-BE49-F238E27FC236}">
                <a16:creationId xmlns:a16="http://schemas.microsoft.com/office/drawing/2014/main" id="{7EA4F1CE-9D3A-B9DF-CDE8-0CD70AE1DF84}"/>
              </a:ext>
            </a:extLst>
          </p:cNvPr>
          <p:cNvCxnSpPr>
            <a:cxnSpLocks/>
          </p:cNvCxnSpPr>
          <p:nvPr/>
        </p:nvCxnSpPr>
        <p:spPr>
          <a:xfrm>
            <a:off x="8674578" y="5356152"/>
            <a:ext cx="485472" cy="0"/>
          </a:xfrm>
          <a:prstGeom prst="straightConnector1">
            <a:avLst/>
          </a:prstGeom>
          <a:ln w="190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8" name="TextBox 207">
            <a:extLst>
              <a:ext uri="{FF2B5EF4-FFF2-40B4-BE49-F238E27FC236}">
                <a16:creationId xmlns:a16="http://schemas.microsoft.com/office/drawing/2014/main" id="{3357393C-9087-2291-5018-0B832FB0AF20}"/>
              </a:ext>
            </a:extLst>
          </p:cNvPr>
          <p:cNvSpPr txBox="1"/>
          <p:nvPr/>
        </p:nvSpPr>
        <p:spPr>
          <a:xfrm>
            <a:off x="8410181" y="5477036"/>
            <a:ext cx="17382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2">
                    <a:lumMod val="75000"/>
                  </a:schemeClr>
                </a:solidFill>
              </a:rPr>
              <a:t>Admin and Support Team</a:t>
            </a:r>
            <a:endParaRPr lang="en-SG" sz="1100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54463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97244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490</TotalTime>
  <Words>62</Words>
  <Application>Microsoft Office PowerPoint</Application>
  <PresentationFormat>Widescreen</PresentationFormat>
  <Paragraphs>28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Liu yuancheng</dc:creator>
  <cp:lastModifiedBy>yuancheng Liu</cp:lastModifiedBy>
  <cp:revision>7</cp:revision>
  <dcterms:created xsi:type="dcterms:W3CDTF">2023-07-14T09:09:19Z</dcterms:created>
  <dcterms:modified xsi:type="dcterms:W3CDTF">2026-02-03T08:28:59Z</dcterms:modified>
</cp:coreProperties>
</file>